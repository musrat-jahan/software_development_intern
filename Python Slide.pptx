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nva Sans" charset="1" panose="020B0503030501040103"/>
      <p:regular r:id="rId18"/>
    </p:embeddedFont>
    <p:embeddedFont>
      <p:font typeface="Mukti" charset="1" panose="00000000000000000000"/>
      <p:regular r:id="rId19"/>
    </p:embeddedFont>
    <p:embeddedFont>
      <p:font typeface="Arial Nova Light" charset="1" panose="020B0304020202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C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9248775" y="9244012"/>
            <a:ext cx="9912558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51435" y="9507110"/>
            <a:ext cx="542093" cy="540520"/>
            <a:chOff x="0" y="0"/>
            <a:chExt cx="174424" cy="1739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4424" cy="173917"/>
            </a:xfrm>
            <a:custGeom>
              <a:avLst/>
              <a:gdLst/>
              <a:ahLst/>
              <a:cxnLst/>
              <a:rect r="r" b="b" t="t" l="l"/>
              <a:pathLst>
                <a:path h="173917" w="174424">
                  <a:moveTo>
                    <a:pt x="86959" y="0"/>
                  </a:moveTo>
                  <a:lnTo>
                    <a:pt x="87465" y="0"/>
                  </a:lnTo>
                  <a:cubicBezTo>
                    <a:pt x="110528" y="0"/>
                    <a:pt x="132646" y="9162"/>
                    <a:pt x="148954" y="25470"/>
                  </a:cubicBezTo>
                  <a:cubicBezTo>
                    <a:pt x="165262" y="41778"/>
                    <a:pt x="174424" y="63896"/>
                    <a:pt x="174424" y="86959"/>
                  </a:cubicBezTo>
                  <a:lnTo>
                    <a:pt x="174424" y="86959"/>
                  </a:lnTo>
                  <a:cubicBezTo>
                    <a:pt x="174424" y="134985"/>
                    <a:pt x="135491" y="173917"/>
                    <a:pt x="87465" y="173917"/>
                  </a:cubicBezTo>
                  <a:lnTo>
                    <a:pt x="86959" y="173917"/>
                  </a:lnTo>
                  <a:cubicBezTo>
                    <a:pt x="38933" y="173917"/>
                    <a:pt x="0" y="134985"/>
                    <a:pt x="0" y="86959"/>
                  </a:cubicBezTo>
                  <a:lnTo>
                    <a:pt x="0" y="86959"/>
                  </a:lnTo>
                  <a:cubicBezTo>
                    <a:pt x="0" y="38933"/>
                    <a:pt x="38933" y="0"/>
                    <a:pt x="869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403E3E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74424" cy="2120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  <a:r>
                <a:rPr lang="en-US" sz="1900" spc="-104">
                  <a:solidFill>
                    <a:srgbClr val="403E3E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93528" y="2233846"/>
            <a:ext cx="8721033" cy="5819307"/>
          </a:xfrm>
          <a:custGeom>
            <a:avLst/>
            <a:gdLst/>
            <a:ahLst/>
            <a:cxnLst/>
            <a:rect r="r" b="b" t="t" l="l"/>
            <a:pathLst>
              <a:path h="5819307" w="8721033">
                <a:moveTo>
                  <a:pt x="0" y="0"/>
                </a:moveTo>
                <a:lnTo>
                  <a:pt x="8721033" y="0"/>
                </a:lnTo>
                <a:lnTo>
                  <a:pt x="8721033" y="5819308"/>
                </a:lnTo>
                <a:lnTo>
                  <a:pt x="0" y="58193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26352" y="9596713"/>
            <a:ext cx="423717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spc="-104">
                <a:solidFill>
                  <a:srgbClr val="403E3E"/>
                </a:solidFill>
                <a:latin typeface="Canva Sans"/>
                <a:ea typeface="Canva Sans"/>
                <a:cs typeface="Canva Sans"/>
                <a:sym typeface="Canva Sans"/>
              </a:rPr>
              <a:t>29 JANUARY 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027704" y="6216440"/>
            <a:ext cx="4624104" cy="113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78"/>
              </a:lnSpc>
            </a:pPr>
            <a:r>
              <a:rPr lang="en-US" sz="4071" spc="-223">
                <a:solidFill>
                  <a:srgbClr val="222116"/>
                </a:solidFill>
                <a:latin typeface="Canva Sans"/>
                <a:ea typeface="Canva Sans"/>
                <a:cs typeface="Canva Sans"/>
                <a:sym typeface="Canva Sans"/>
              </a:rPr>
              <a:t>Presented By:</a:t>
            </a:r>
          </a:p>
          <a:p>
            <a:pPr algn="r">
              <a:lnSpc>
                <a:spcPts val="4478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9627495" y="2304996"/>
            <a:ext cx="8048625" cy="1170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015"/>
              </a:lnSpc>
            </a:pPr>
            <a:r>
              <a:rPr lang="en-US" sz="10547" spc="-791">
                <a:solidFill>
                  <a:srgbClr val="403E3E"/>
                </a:solidFill>
                <a:latin typeface="Canva Sans"/>
                <a:ea typeface="Canva Sans"/>
                <a:cs typeface="Canva Sans"/>
                <a:sym typeface="Canva Sans"/>
              </a:rPr>
              <a:t>PYTHON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52900" y="7015725"/>
            <a:ext cx="6671458" cy="1493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28"/>
              </a:lnSpc>
            </a:pPr>
            <a:r>
              <a:rPr lang="en-US" sz="3571" spc="-196">
                <a:solidFill>
                  <a:srgbClr val="403E3E"/>
                </a:solidFill>
                <a:latin typeface="Canva Sans"/>
                <a:ea typeface="Canva Sans"/>
                <a:cs typeface="Canva Sans"/>
                <a:sym typeface="Canva Sans"/>
              </a:rPr>
              <a:t>Musrat Jahan</a:t>
            </a:r>
          </a:p>
          <a:p>
            <a:pPr algn="r">
              <a:lnSpc>
                <a:spcPts val="3928"/>
              </a:lnSpc>
            </a:pPr>
            <a:r>
              <a:rPr lang="en-US" sz="3571" spc="-196">
                <a:solidFill>
                  <a:srgbClr val="403E3E"/>
                </a:solidFill>
                <a:latin typeface="Canva Sans"/>
                <a:ea typeface="Canva Sans"/>
                <a:cs typeface="Canva Sans"/>
                <a:sym typeface="Canva Sans"/>
              </a:rPr>
              <a:t>Software Engineer Intern</a:t>
            </a:r>
          </a:p>
          <a:p>
            <a:pPr algn="r">
              <a:lnSpc>
                <a:spcPts val="3928"/>
              </a:lnSpc>
            </a:pPr>
            <a:r>
              <a:rPr lang="en-US" sz="3571" spc="-196">
                <a:solidFill>
                  <a:srgbClr val="403E3E"/>
                </a:solidFill>
                <a:latin typeface="Canva Sans"/>
                <a:ea typeface="Canva Sans"/>
                <a:cs typeface="Canva Sans"/>
                <a:sym typeface="Canva Sans"/>
              </a:rPr>
              <a:t>MetroBlue Tech Systems LTD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1EC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91149" y="3009521"/>
            <a:ext cx="12105702" cy="420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3"/>
              </a:lnSpc>
              <a:spcBef>
                <a:spcPct val="0"/>
              </a:spcBef>
            </a:pPr>
            <a:r>
              <a:rPr lang="en-US" b="true" sz="4002" spc="-220">
                <a:solidFill>
                  <a:srgbClr val="000000"/>
                </a:solidFill>
                <a:latin typeface="Mukti"/>
                <a:ea typeface="Mukti"/>
                <a:cs typeface="Mukti"/>
                <a:sym typeface="Mukti"/>
              </a:rPr>
              <a:t>I ACKNOWLEDGE THE LARRAKIA PEOPLE AS THE TRADITIONAL OWNERS OF THE LAND ON WHICH WE MEET TODAY. I PAY MY RESPECTS TO ELDERS PAST, PRESENT AND EMERGING, AND EXTEND THAT RESPECT TO ALL ABORIGINAL AND TORRES STRAIT ISLANDER PEOPLES.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C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315343" y="9253537"/>
            <a:ext cx="10585649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8315343" y="1033462"/>
            <a:ext cx="10585649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251435" y="9507110"/>
            <a:ext cx="542093" cy="540520"/>
            <a:chOff x="0" y="0"/>
            <a:chExt cx="174424" cy="173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4424" cy="173917"/>
            </a:xfrm>
            <a:custGeom>
              <a:avLst/>
              <a:gdLst/>
              <a:ahLst/>
              <a:cxnLst/>
              <a:rect r="r" b="b" t="t" l="l"/>
              <a:pathLst>
                <a:path h="173917" w="174424">
                  <a:moveTo>
                    <a:pt x="86959" y="0"/>
                  </a:moveTo>
                  <a:lnTo>
                    <a:pt x="87465" y="0"/>
                  </a:lnTo>
                  <a:cubicBezTo>
                    <a:pt x="110528" y="0"/>
                    <a:pt x="132646" y="9162"/>
                    <a:pt x="148954" y="25470"/>
                  </a:cubicBezTo>
                  <a:cubicBezTo>
                    <a:pt x="165262" y="41778"/>
                    <a:pt x="174424" y="63896"/>
                    <a:pt x="174424" y="86959"/>
                  </a:cubicBezTo>
                  <a:lnTo>
                    <a:pt x="174424" y="86959"/>
                  </a:lnTo>
                  <a:cubicBezTo>
                    <a:pt x="174424" y="134985"/>
                    <a:pt x="135491" y="173917"/>
                    <a:pt x="87465" y="173917"/>
                  </a:cubicBezTo>
                  <a:lnTo>
                    <a:pt x="86959" y="173917"/>
                  </a:lnTo>
                  <a:cubicBezTo>
                    <a:pt x="38933" y="173917"/>
                    <a:pt x="0" y="134985"/>
                    <a:pt x="0" y="86959"/>
                  </a:cubicBezTo>
                  <a:lnTo>
                    <a:pt x="0" y="86959"/>
                  </a:lnTo>
                  <a:cubicBezTo>
                    <a:pt x="0" y="38933"/>
                    <a:pt x="38933" y="0"/>
                    <a:pt x="869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403E3E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4424" cy="2120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  <a:r>
                <a:rPr lang="en-US" sz="1900" spc="-104">
                  <a:solidFill>
                    <a:srgbClr val="403E3E"/>
                  </a:solidFill>
                  <a:latin typeface="Mukti"/>
                  <a:ea typeface="Mukti"/>
                  <a:cs typeface="Mukti"/>
                  <a:sym typeface="Mukti"/>
                </a:rPr>
                <a:t>2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625942" y="0"/>
            <a:ext cx="5717368" cy="10287000"/>
          </a:xfrm>
          <a:custGeom>
            <a:avLst/>
            <a:gdLst/>
            <a:ahLst/>
            <a:cxnLst/>
            <a:rect r="r" b="b" t="t" l="l"/>
            <a:pathLst>
              <a:path h="10287000" w="5717368">
                <a:moveTo>
                  <a:pt x="0" y="0"/>
                </a:moveTo>
                <a:lnTo>
                  <a:pt x="5717368" y="0"/>
                </a:lnTo>
                <a:lnTo>
                  <a:pt x="5717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749" r="0" b="-1055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878671" y="2226132"/>
            <a:ext cx="6816156" cy="644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84"/>
              </a:lnSpc>
            </a:pPr>
            <a:r>
              <a:rPr lang="en-US" sz="5900" spc="-129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PYTHON DATA TYPE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499355" y="9596713"/>
            <a:ext cx="423717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60"/>
              </a:lnSpc>
            </a:pPr>
            <a:r>
              <a:rPr lang="en-US" sz="1900" spc="-104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PRESENTED BY: HARPER RUSSO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06718" y="3394817"/>
            <a:ext cx="8726056" cy="503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5"/>
              </a:lnSpc>
            </a:pPr>
            <a:r>
              <a:rPr lang="en-US" sz="2882" spc="-158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EVERY VARIABLE IN PYTHON HAS A DATA TYPE</a:t>
            </a:r>
          </a:p>
          <a:p>
            <a:pPr algn="l" marL="622323" indent="-311162" lvl="1">
              <a:lnSpc>
                <a:spcPts val="4035"/>
              </a:lnSpc>
              <a:buFont typeface="Arial"/>
              <a:buChar char="•"/>
            </a:pPr>
            <a:r>
              <a:rPr lang="en-US" b="true" sz="2882" spc="-158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INT → INTEGER NUMBERS (10, -5, 0)</a:t>
            </a:r>
          </a:p>
          <a:p>
            <a:pPr algn="l" marL="622323" indent="-311162" lvl="1">
              <a:lnSpc>
                <a:spcPts val="4035"/>
              </a:lnSpc>
              <a:buFont typeface="Arial"/>
              <a:buChar char="•"/>
            </a:pPr>
            <a:r>
              <a:rPr lang="en-US" b="true" sz="2882" spc="-158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FLOAT → DECIMAL NUMBERS (3.14, 0.5)</a:t>
            </a:r>
          </a:p>
          <a:p>
            <a:pPr algn="l" marL="622323" indent="-311162" lvl="1">
              <a:lnSpc>
                <a:spcPts val="4035"/>
              </a:lnSpc>
              <a:buFont typeface="Arial"/>
              <a:buChar char="•"/>
            </a:pPr>
            <a:r>
              <a:rPr lang="en-US" b="true" sz="2882" spc="-158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STR → STRINGS (‘NAME’, 'MUSRAT’)</a:t>
            </a:r>
          </a:p>
          <a:p>
            <a:pPr algn="l" marL="622323" indent="-311162" lvl="1">
              <a:lnSpc>
                <a:spcPts val="4035"/>
              </a:lnSpc>
              <a:buFont typeface="Arial"/>
              <a:buChar char="•"/>
            </a:pPr>
            <a:r>
              <a:rPr lang="en-US" b="true" sz="2882" spc="-158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BOOL → BOOLEAN (TRUE, FALSE)</a:t>
            </a:r>
          </a:p>
          <a:p>
            <a:pPr algn="l" marL="622323" indent="-311162" lvl="1">
              <a:lnSpc>
                <a:spcPts val="4035"/>
              </a:lnSpc>
              <a:buFont typeface="Arial"/>
              <a:buChar char="•"/>
            </a:pPr>
            <a:r>
              <a:rPr lang="en-US" b="true" sz="2882" spc="-158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LIST → ORDERED, MUTABLE  [1,2,3]</a:t>
            </a:r>
          </a:p>
          <a:p>
            <a:pPr algn="l" marL="622323" indent="-311162" lvl="1">
              <a:lnSpc>
                <a:spcPts val="4035"/>
              </a:lnSpc>
              <a:buFont typeface="Arial"/>
              <a:buChar char="•"/>
            </a:pPr>
            <a:r>
              <a:rPr lang="en-US" b="true" sz="2882" spc="-158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TUPLE → ORDERED, IMMUTABLE  (1,2,3)</a:t>
            </a:r>
          </a:p>
          <a:p>
            <a:pPr algn="l" marL="622323" indent="-311162" lvl="1">
              <a:lnSpc>
                <a:spcPts val="4035"/>
              </a:lnSpc>
              <a:buFont typeface="Arial"/>
              <a:buChar char="•"/>
            </a:pPr>
            <a:r>
              <a:rPr lang="en-US" b="true" sz="2882" spc="-158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DICT → KEY-VALUE PAIRS {"NAME":"ALICE", "AGE":25}</a:t>
            </a:r>
          </a:p>
          <a:p>
            <a:pPr algn="l" marL="622323" indent="-311162" lvl="1">
              <a:lnSpc>
                <a:spcPts val="4035"/>
              </a:lnSpc>
              <a:buFont typeface="Arial"/>
              <a:buChar char="•"/>
            </a:pPr>
            <a:r>
              <a:rPr lang="en-US" b="true" sz="2882" spc="-158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SET → UNORDERED, UNIQUE {1,2,3}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C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315343" y="9253537"/>
            <a:ext cx="10585649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8315343" y="1033462"/>
            <a:ext cx="10585649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251435" y="9507110"/>
            <a:ext cx="542093" cy="540520"/>
            <a:chOff x="0" y="0"/>
            <a:chExt cx="174424" cy="173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4424" cy="173917"/>
            </a:xfrm>
            <a:custGeom>
              <a:avLst/>
              <a:gdLst/>
              <a:ahLst/>
              <a:cxnLst/>
              <a:rect r="r" b="b" t="t" l="l"/>
              <a:pathLst>
                <a:path h="173917" w="174424">
                  <a:moveTo>
                    <a:pt x="86959" y="0"/>
                  </a:moveTo>
                  <a:lnTo>
                    <a:pt x="87465" y="0"/>
                  </a:lnTo>
                  <a:cubicBezTo>
                    <a:pt x="110528" y="0"/>
                    <a:pt x="132646" y="9162"/>
                    <a:pt x="148954" y="25470"/>
                  </a:cubicBezTo>
                  <a:cubicBezTo>
                    <a:pt x="165262" y="41778"/>
                    <a:pt x="174424" y="63896"/>
                    <a:pt x="174424" y="86959"/>
                  </a:cubicBezTo>
                  <a:lnTo>
                    <a:pt x="174424" y="86959"/>
                  </a:lnTo>
                  <a:cubicBezTo>
                    <a:pt x="174424" y="134985"/>
                    <a:pt x="135491" y="173917"/>
                    <a:pt x="87465" y="173917"/>
                  </a:cubicBezTo>
                  <a:lnTo>
                    <a:pt x="86959" y="173917"/>
                  </a:lnTo>
                  <a:cubicBezTo>
                    <a:pt x="38933" y="173917"/>
                    <a:pt x="0" y="134985"/>
                    <a:pt x="0" y="86959"/>
                  </a:cubicBezTo>
                  <a:lnTo>
                    <a:pt x="0" y="86959"/>
                  </a:lnTo>
                  <a:cubicBezTo>
                    <a:pt x="0" y="38933"/>
                    <a:pt x="38933" y="0"/>
                    <a:pt x="869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403E3E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4424" cy="2120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  <a:r>
                <a:rPr lang="en-US" sz="1900" spc="-104">
                  <a:solidFill>
                    <a:srgbClr val="403E3E"/>
                  </a:solidFill>
                  <a:latin typeface="Mukti"/>
                  <a:ea typeface="Mukti"/>
                  <a:cs typeface="Mukti"/>
                  <a:sym typeface="Mukti"/>
                </a:rPr>
                <a:t>2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9519585" y="2910184"/>
            <a:ext cx="7071122" cy="5582608"/>
          </a:xfrm>
          <a:custGeom>
            <a:avLst/>
            <a:gdLst/>
            <a:ahLst/>
            <a:cxnLst/>
            <a:rect r="r" b="b" t="t" l="l"/>
            <a:pathLst>
              <a:path h="5582608" w="7071122">
                <a:moveTo>
                  <a:pt x="0" y="0"/>
                </a:moveTo>
                <a:lnTo>
                  <a:pt x="7071122" y="0"/>
                </a:lnTo>
                <a:lnTo>
                  <a:pt x="7071122" y="5582608"/>
                </a:lnTo>
                <a:lnTo>
                  <a:pt x="0" y="5582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10" t="-2669" r="0" b="-2669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26955" y="2796706"/>
            <a:ext cx="6816156" cy="644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84"/>
              </a:lnSpc>
            </a:pPr>
            <a:r>
              <a:rPr lang="en-US" sz="5900" spc="-129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TYPE FUNCTION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499355" y="9596713"/>
            <a:ext cx="423717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60"/>
              </a:lnSpc>
            </a:pPr>
            <a:r>
              <a:rPr lang="en-US" sz="1900" spc="-104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PRESENTED BY: HARPER RUSSO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99355" y="314960"/>
            <a:ext cx="423717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60"/>
              </a:lnSpc>
            </a:pPr>
            <a:r>
              <a:rPr lang="en-US" sz="1900" spc="-104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CREATIVE BRIEF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93528" y="4671296"/>
            <a:ext cx="8726056" cy="3012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5"/>
              </a:lnSpc>
            </a:pPr>
            <a:r>
              <a:rPr lang="en-US" sz="2882" spc="-158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TYPE() FUNCTION IS USED TO CHECK THE DATA TYPE</a:t>
            </a:r>
            <a:r>
              <a:rPr lang="en-US" b="true" sz="2882" spc="-158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 OF A VARIABLE.</a:t>
            </a:r>
          </a:p>
          <a:p>
            <a:pPr algn="l">
              <a:lnSpc>
                <a:spcPts val="4035"/>
              </a:lnSpc>
            </a:pPr>
            <a:r>
              <a:rPr lang="en-US" b="true" sz="2882" spc="-158">
                <a:solidFill>
                  <a:srgbClr val="8C52FF"/>
                </a:solidFill>
                <a:latin typeface="Mukti"/>
                <a:ea typeface="Mukti"/>
                <a:cs typeface="Mukti"/>
                <a:sym typeface="Mukti"/>
              </a:rPr>
              <a:t>                </a:t>
            </a:r>
            <a:r>
              <a:rPr lang="en-US" b="true" sz="2882" spc="-158">
                <a:solidFill>
                  <a:srgbClr val="8C52FF"/>
                </a:solidFill>
                <a:latin typeface="Mukti"/>
                <a:ea typeface="Mukti"/>
                <a:cs typeface="Mukti"/>
                <a:sym typeface="Mukti"/>
              </a:rPr>
              <a:t>TYPE(VARIABLE_NAME)</a:t>
            </a:r>
          </a:p>
          <a:p>
            <a:pPr algn="l">
              <a:lnSpc>
                <a:spcPts val="4035"/>
              </a:lnSpc>
            </a:pPr>
            <a:r>
              <a:rPr lang="en-US" b="true" sz="2882" spc="-158">
                <a:solidFill>
                  <a:srgbClr val="8C52FF"/>
                </a:solidFill>
                <a:latin typeface="Mukti"/>
                <a:ea typeface="Mukti"/>
                <a:cs typeface="Mukti"/>
                <a:sym typeface="Mukti"/>
              </a:rPr>
              <a:t>                   </a:t>
            </a:r>
            <a:r>
              <a:rPr lang="en-US" b="true" sz="2882" spc="-158">
                <a:solidFill>
                  <a:srgbClr val="5E17EB"/>
                </a:solidFill>
                <a:latin typeface="Mukti"/>
                <a:ea typeface="Mukti"/>
                <a:cs typeface="Mukti"/>
                <a:sym typeface="Mukti"/>
              </a:rPr>
              <a:t> TYPE(X)</a:t>
            </a:r>
          </a:p>
          <a:p>
            <a:pPr algn="l">
              <a:lnSpc>
                <a:spcPts val="4035"/>
              </a:lnSpc>
            </a:pPr>
          </a:p>
          <a:p>
            <a:pPr algn="l">
              <a:lnSpc>
                <a:spcPts val="4035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C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315343" y="9253537"/>
            <a:ext cx="10585649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8315343" y="1033462"/>
            <a:ext cx="10585649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251435" y="9507110"/>
            <a:ext cx="542093" cy="540520"/>
            <a:chOff x="0" y="0"/>
            <a:chExt cx="174424" cy="173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4424" cy="173917"/>
            </a:xfrm>
            <a:custGeom>
              <a:avLst/>
              <a:gdLst/>
              <a:ahLst/>
              <a:cxnLst/>
              <a:rect r="r" b="b" t="t" l="l"/>
              <a:pathLst>
                <a:path h="173917" w="174424">
                  <a:moveTo>
                    <a:pt x="86959" y="0"/>
                  </a:moveTo>
                  <a:lnTo>
                    <a:pt x="87465" y="0"/>
                  </a:lnTo>
                  <a:cubicBezTo>
                    <a:pt x="110528" y="0"/>
                    <a:pt x="132646" y="9162"/>
                    <a:pt x="148954" y="25470"/>
                  </a:cubicBezTo>
                  <a:cubicBezTo>
                    <a:pt x="165262" y="41778"/>
                    <a:pt x="174424" y="63896"/>
                    <a:pt x="174424" y="86959"/>
                  </a:cubicBezTo>
                  <a:lnTo>
                    <a:pt x="174424" y="86959"/>
                  </a:lnTo>
                  <a:cubicBezTo>
                    <a:pt x="174424" y="134985"/>
                    <a:pt x="135491" y="173917"/>
                    <a:pt x="87465" y="173917"/>
                  </a:cubicBezTo>
                  <a:lnTo>
                    <a:pt x="86959" y="173917"/>
                  </a:lnTo>
                  <a:cubicBezTo>
                    <a:pt x="38933" y="173917"/>
                    <a:pt x="0" y="134985"/>
                    <a:pt x="0" y="86959"/>
                  </a:cubicBezTo>
                  <a:lnTo>
                    <a:pt x="0" y="86959"/>
                  </a:lnTo>
                  <a:cubicBezTo>
                    <a:pt x="0" y="38933"/>
                    <a:pt x="38933" y="0"/>
                    <a:pt x="869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403E3E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4424" cy="2120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  <a:r>
                <a:rPr lang="en-US" sz="1900" spc="-104">
                  <a:solidFill>
                    <a:srgbClr val="403E3E"/>
                  </a:solidFill>
                  <a:latin typeface="Mukti"/>
                  <a:ea typeface="Mukti"/>
                  <a:cs typeface="Mukti"/>
                  <a:sym typeface="Mukti"/>
                </a:rPr>
                <a:t>2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28700" y="1028700"/>
            <a:ext cx="5867584" cy="7827896"/>
          </a:xfrm>
          <a:custGeom>
            <a:avLst/>
            <a:gdLst/>
            <a:ahLst/>
            <a:cxnLst/>
            <a:rect r="r" b="b" t="t" l="l"/>
            <a:pathLst>
              <a:path h="7827896" w="5867584">
                <a:moveTo>
                  <a:pt x="0" y="0"/>
                </a:moveTo>
                <a:lnTo>
                  <a:pt x="5867584" y="0"/>
                </a:lnTo>
                <a:lnTo>
                  <a:pt x="5867584" y="7827896"/>
                </a:lnTo>
                <a:lnTo>
                  <a:pt x="0" y="78278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4" t="-230" r="-3414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533244" y="2178507"/>
            <a:ext cx="8957213" cy="510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72"/>
              </a:lnSpc>
            </a:pPr>
            <a:r>
              <a:rPr lang="en-US" sz="4700" spc="-103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TYPE  CASTING &amp; CONVERSION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33244" y="3928947"/>
            <a:ext cx="8726056" cy="4022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5"/>
              </a:lnSpc>
            </a:pPr>
            <a:r>
              <a:rPr lang="en-US" sz="2882" spc="-158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TYPE CASTING IS THE PROCESS OF CONVERTING A VARIABLE FROM ONE DATA TYPE</a:t>
            </a:r>
            <a:r>
              <a:rPr lang="en-US" b="true" sz="2882" spc="-158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 TO ANOTHER.</a:t>
            </a:r>
          </a:p>
          <a:p>
            <a:pPr algn="l">
              <a:lnSpc>
                <a:spcPts val="4035"/>
              </a:lnSpc>
            </a:pPr>
          </a:p>
          <a:p>
            <a:pPr algn="l" marL="622323" indent="-311162" lvl="1">
              <a:lnSpc>
                <a:spcPts val="4035"/>
              </a:lnSpc>
              <a:buFont typeface="Arial"/>
              <a:buChar char="•"/>
            </a:pPr>
            <a:r>
              <a:rPr lang="en-US" b="true" sz="2882" spc="-158">
                <a:solidFill>
                  <a:srgbClr val="8C52FF"/>
                </a:solidFill>
                <a:latin typeface="Mukti"/>
                <a:ea typeface="Mukti"/>
                <a:cs typeface="Mukti"/>
                <a:sym typeface="Mukti"/>
              </a:rPr>
              <a:t>IN</a:t>
            </a:r>
            <a:r>
              <a:rPr lang="en-US" b="true" sz="2882" spc="-158">
                <a:solidFill>
                  <a:srgbClr val="8C52FF"/>
                </a:solidFill>
                <a:latin typeface="Mukti"/>
                <a:ea typeface="Mukti"/>
                <a:cs typeface="Mukti"/>
                <a:sym typeface="Mukti"/>
              </a:rPr>
              <a:t>T → FLOAT  ;  </a:t>
            </a:r>
            <a:r>
              <a:rPr lang="en-US" b="true" sz="2882" spc="-158">
                <a:solidFill>
                  <a:srgbClr val="1800AD"/>
                </a:solidFill>
                <a:latin typeface="Mukti"/>
                <a:ea typeface="Mukti"/>
                <a:cs typeface="Mukti"/>
                <a:sym typeface="Mukti"/>
              </a:rPr>
              <a:t>FLOAT(10) → 10.0</a:t>
            </a:r>
          </a:p>
          <a:p>
            <a:pPr algn="l" marL="622323" indent="-311162" lvl="1">
              <a:lnSpc>
                <a:spcPts val="4035"/>
              </a:lnSpc>
              <a:buFont typeface="Arial"/>
              <a:buChar char="•"/>
            </a:pPr>
            <a:r>
              <a:rPr lang="en-US" b="true" sz="2882" spc="-158">
                <a:solidFill>
                  <a:srgbClr val="8C52FF"/>
                </a:solidFill>
                <a:latin typeface="Mukti"/>
                <a:ea typeface="Mukti"/>
                <a:cs typeface="Mukti"/>
                <a:sym typeface="Mukti"/>
              </a:rPr>
              <a:t>FLOAT → INT;    </a:t>
            </a:r>
            <a:r>
              <a:rPr lang="en-US" b="true" sz="2882" spc="-158">
                <a:solidFill>
                  <a:srgbClr val="1800AD"/>
                </a:solidFill>
                <a:latin typeface="Mukti"/>
                <a:ea typeface="Mukti"/>
                <a:cs typeface="Mukti"/>
                <a:sym typeface="Mukti"/>
              </a:rPr>
              <a:t> INT(3.99) → 3</a:t>
            </a:r>
          </a:p>
          <a:p>
            <a:pPr algn="l" marL="622323" indent="-311162" lvl="1">
              <a:lnSpc>
                <a:spcPts val="4035"/>
              </a:lnSpc>
              <a:buFont typeface="Arial"/>
              <a:buChar char="•"/>
            </a:pPr>
            <a:r>
              <a:rPr lang="en-US" b="true" sz="2882" spc="-158">
                <a:solidFill>
                  <a:srgbClr val="8C52FF"/>
                </a:solidFill>
                <a:latin typeface="Mukti"/>
                <a:ea typeface="Mukti"/>
                <a:cs typeface="Mukti"/>
                <a:sym typeface="Mukti"/>
              </a:rPr>
              <a:t>STRING → INT;   </a:t>
            </a:r>
            <a:r>
              <a:rPr lang="en-US" b="true" sz="2882" spc="-158">
                <a:solidFill>
                  <a:srgbClr val="1800AD"/>
                </a:solidFill>
                <a:latin typeface="Mukti"/>
                <a:ea typeface="Mukti"/>
                <a:cs typeface="Mukti"/>
                <a:sym typeface="Mukti"/>
              </a:rPr>
              <a:t>INT("50") → 50</a:t>
            </a:r>
          </a:p>
          <a:p>
            <a:pPr algn="l" marL="622323" indent="-311162" lvl="1">
              <a:lnSpc>
                <a:spcPts val="4035"/>
              </a:lnSpc>
              <a:buFont typeface="Arial"/>
              <a:buChar char="•"/>
            </a:pPr>
            <a:r>
              <a:rPr lang="en-US" b="true" sz="2882" spc="-158">
                <a:solidFill>
                  <a:srgbClr val="8C52FF"/>
                </a:solidFill>
                <a:latin typeface="Mukti"/>
                <a:ea typeface="Mukti"/>
                <a:cs typeface="Mukti"/>
                <a:sym typeface="Mukti"/>
              </a:rPr>
              <a:t>INT → STRING ;  </a:t>
            </a:r>
            <a:r>
              <a:rPr lang="en-US" b="true" sz="2882" spc="-158">
                <a:solidFill>
                  <a:srgbClr val="1800AD"/>
                </a:solidFill>
                <a:latin typeface="Mukti"/>
                <a:ea typeface="Mukti"/>
                <a:cs typeface="Mukti"/>
                <a:sym typeface="Mukti"/>
              </a:rPr>
              <a:t>STR(50) → "50"</a:t>
            </a:r>
          </a:p>
          <a:p>
            <a:pPr algn="l">
              <a:lnSpc>
                <a:spcPts val="4035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612992" y="9253537"/>
            <a:ext cx="12396242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22482" y="2515163"/>
            <a:ext cx="12245402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251435" y="9507110"/>
            <a:ext cx="542093" cy="540520"/>
            <a:chOff x="0" y="0"/>
            <a:chExt cx="174424" cy="173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4424" cy="173917"/>
            </a:xfrm>
            <a:custGeom>
              <a:avLst/>
              <a:gdLst/>
              <a:ahLst/>
              <a:cxnLst/>
              <a:rect r="r" b="b" t="t" l="l"/>
              <a:pathLst>
                <a:path h="173917" w="174424">
                  <a:moveTo>
                    <a:pt x="86959" y="0"/>
                  </a:moveTo>
                  <a:lnTo>
                    <a:pt x="87465" y="0"/>
                  </a:lnTo>
                  <a:cubicBezTo>
                    <a:pt x="110528" y="0"/>
                    <a:pt x="132646" y="9162"/>
                    <a:pt x="148954" y="25470"/>
                  </a:cubicBezTo>
                  <a:cubicBezTo>
                    <a:pt x="165262" y="41778"/>
                    <a:pt x="174424" y="63896"/>
                    <a:pt x="174424" y="86959"/>
                  </a:cubicBezTo>
                  <a:lnTo>
                    <a:pt x="174424" y="86959"/>
                  </a:lnTo>
                  <a:cubicBezTo>
                    <a:pt x="174424" y="134985"/>
                    <a:pt x="135491" y="173917"/>
                    <a:pt x="87465" y="173917"/>
                  </a:cubicBezTo>
                  <a:lnTo>
                    <a:pt x="86959" y="173917"/>
                  </a:lnTo>
                  <a:cubicBezTo>
                    <a:pt x="38933" y="173917"/>
                    <a:pt x="0" y="134985"/>
                    <a:pt x="0" y="86959"/>
                  </a:cubicBezTo>
                  <a:lnTo>
                    <a:pt x="0" y="86959"/>
                  </a:lnTo>
                  <a:cubicBezTo>
                    <a:pt x="0" y="38933"/>
                    <a:pt x="38933" y="0"/>
                    <a:pt x="869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403E3E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4424" cy="2120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  <a:r>
                <a:rPr lang="en-US" sz="1900" spc="-104">
                  <a:solidFill>
                    <a:srgbClr val="403E3E"/>
                  </a:solidFill>
                  <a:latin typeface="Mukti"/>
                  <a:ea typeface="Mukti"/>
                  <a:cs typeface="Mukti"/>
                  <a:sym typeface="Mukti"/>
                </a:rPr>
                <a:t>3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341335" y="4542754"/>
            <a:ext cx="5959926" cy="4715546"/>
          </a:xfrm>
          <a:custGeom>
            <a:avLst/>
            <a:gdLst/>
            <a:ahLst/>
            <a:cxnLst/>
            <a:rect r="r" b="b" t="t" l="l"/>
            <a:pathLst>
              <a:path h="4715546" w="5959926">
                <a:moveTo>
                  <a:pt x="0" y="0"/>
                </a:moveTo>
                <a:lnTo>
                  <a:pt x="5959926" y="0"/>
                </a:lnTo>
                <a:lnTo>
                  <a:pt x="5959926" y="4715546"/>
                </a:lnTo>
                <a:lnTo>
                  <a:pt x="0" y="4715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590897" y="5293386"/>
            <a:ext cx="9668403" cy="3711904"/>
          </a:xfrm>
          <a:custGeom>
            <a:avLst/>
            <a:gdLst/>
            <a:ahLst/>
            <a:cxnLst/>
            <a:rect r="r" b="b" t="t" l="l"/>
            <a:pathLst>
              <a:path h="3711904" w="9668403">
                <a:moveTo>
                  <a:pt x="0" y="0"/>
                </a:moveTo>
                <a:lnTo>
                  <a:pt x="9668403" y="0"/>
                </a:lnTo>
                <a:lnTo>
                  <a:pt x="9668403" y="3711904"/>
                </a:lnTo>
                <a:lnTo>
                  <a:pt x="0" y="37119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3309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41335" y="1406193"/>
            <a:ext cx="14876637" cy="861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1"/>
              </a:lnSpc>
              <a:spcBef>
                <a:spcPct val="0"/>
              </a:spcBef>
            </a:pPr>
            <a:r>
              <a:rPr lang="en-US" sz="4173" spc="-91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EXPLICIT</a:t>
            </a:r>
            <a:r>
              <a:rPr lang="en-US" sz="4173" spc="-91" strike="noStrike" u="none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 &amp;.</a:t>
            </a:r>
          </a:p>
          <a:p>
            <a:pPr algn="ctr" marL="0" indent="0" lvl="0">
              <a:lnSpc>
                <a:spcPts val="3171"/>
              </a:lnSpc>
              <a:spcBef>
                <a:spcPct val="0"/>
              </a:spcBef>
            </a:pPr>
            <a:r>
              <a:rPr lang="en-US" sz="4173" spc="-91" strike="noStrike" u="none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IMPLICIT CASTING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1335" y="3348601"/>
            <a:ext cx="13573734" cy="114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99262" indent="-299631" lvl="1">
              <a:lnSpc>
                <a:spcPts val="3053"/>
              </a:lnSpc>
              <a:spcBef>
                <a:spcPct val="0"/>
              </a:spcBef>
              <a:buFont typeface="Arial"/>
              <a:buChar char="•"/>
            </a:pPr>
            <a:r>
              <a:rPr lang="en-US" sz="2775" spc="-152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Explicit cast</a:t>
            </a:r>
            <a:r>
              <a:rPr lang="en-US" b="true" sz="2775" spc="-152" strike="noStrike" u="none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ing → Convert manually using int(), float(), str(), bool().</a:t>
            </a:r>
          </a:p>
          <a:p>
            <a:pPr algn="just" marL="599262" indent="-299631" lvl="1">
              <a:lnSpc>
                <a:spcPts val="305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75" spc="-152" strike="noStrike" u="none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Implicit casting → Python converts automatically when different types are used in an operation.</a:t>
            </a:r>
          </a:p>
          <a:p>
            <a:pPr algn="just" marL="0" indent="0" lvl="0">
              <a:lnSpc>
                <a:spcPts val="305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C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315343" y="9253537"/>
            <a:ext cx="10585649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8315343" y="1033462"/>
            <a:ext cx="10585649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251435" y="9507110"/>
            <a:ext cx="542093" cy="540520"/>
            <a:chOff x="0" y="0"/>
            <a:chExt cx="174424" cy="173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4424" cy="173917"/>
            </a:xfrm>
            <a:custGeom>
              <a:avLst/>
              <a:gdLst/>
              <a:ahLst/>
              <a:cxnLst/>
              <a:rect r="r" b="b" t="t" l="l"/>
              <a:pathLst>
                <a:path h="173917" w="174424">
                  <a:moveTo>
                    <a:pt x="86959" y="0"/>
                  </a:moveTo>
                  <a:lnTo>
                    <a:pt x="87465" y="0"/>
                  </a:lnTo>
                  <a:cubicBezTo>
                    <a:pt x="110528" y="0"/>
                    <a:pt x="132646" y="9162"/>
                    <a:pt x="148954" y="25470"/>
                  </a:cubicBezTo>
                  <a:cubicBezTo>
                    <a:pt x="165262" y="41778"/>
                    <a:pt x="174424" y="63896"/>
                    <a:pt x="174424" y="86959"/>
                  </a:cubicBezTo>
                  <a:lnTo>
                    <a:pt x="174424" y="86959"/>
                  </a:lnTo>
                  <a:cubicBezTo>
                    <a:pt x="174424" y="134985"/>
                    <a:pt x="135491" y="173917"/>
                    <a:pt x="87465" y="173917"/>
                  </a:cubicBezTo>
                  <a:lnTo>
                    <a:pt x="86959" y="173917"/>
                  </a:lnTo>
                  <a:cubicBezTo>
                    <a:pt x="38933" y="173917"/>
                    <a:pt x="0" y="134985"/>
                    <a:pt x="0" y="86959"/>
                  </a:cubicBezTo>
                  <a:lnTo>
                    <a:pt x="0" y="86959"/>
                  </a:lnTo>
                  <a:cubicBezTo>
                    <a:pt x="0" y="38933"/>
                    <a:pt x="38933" y="0"/>
                    <a:pt x="869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403E3E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4424" cy="2120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  <a:r>
                <a:rPr lang="en-US" sz="1900" spc="-104">
                  <a:solidFill>
                    <a:srgbClr val="403E3E"/>
                  </a:solidFill>
                  <a:latin typeface="Mukti"/>
                  <a:ea typeface="Mukti"/>
                  <a:cs typeface="Mukti"/>
                  <a:sym typeface="Mukti"/>
                </a:rPr>
                <a:t>2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8975262" y="4999624"/>
            <a:ext cx="7654274" cy="3856972"/>
          </a:xfrm>
          <a:custGeom>
            <a:avLst/>
            <a:gdLst/>
            <a:ahLst/>
            <a:cxnLst/>
            <a:rect r="r" b="b" t="t" l="l"/>
            <a:pathLst>
              <a:path h="3856972" w="7654274">
                <a:moveTo>
                  <a:pt x="0" y="0"/>
                </a:moveTo>
                <a:lnTo>
                  <a:pt x="7654274" y="0"/>
                </a:lnTo>
                <a:lnTo>
                  <a:pt x="7654274" y="3856972"/>
                </a:lnTo>
                <a:lnTo>
                  <a:pt x="0" y="38569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9" t="0" r="-389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405299"/>
            <a:ext cx="5805306" cy="9476403"/>
          </a:xfrm>
          <a:custGeom>
            <a:avLst/>
            <a:gdLst/>
            <a:ahLst/>
            <a:cxnLst/>
            <a:rect r="r" b="b" t="t" l="l"/>
            <a:pathLst>
              <a:path h="9476403" w="5805306">
                <a:moveTo>
                  <a:pt x="0" y="0"/>
                </a:moveTo>
                <a:lnTo>
                  <a:pt x="5805306" y="0"/>
                </a:lnTo>
                <a:lnTo>
                  <a:pt x="5805306" y="9476402"/>
                </a:lnTo>
                <a:lnTo>
                  <a:pt x="0" y="94764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2" t="-8315" r="-62" b="-3651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533244" y="2178507"/>
            <a:ext cx="8957213" cy="510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72"/>
              </a:lnSpc>
            </a:pPr>
            <a:r>
              <a:rPr lang="en-US" sz="4700" spc="-103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 ARITHMETIC OPERATORS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96389" y="3286462"/>
            <a:ext cx="9662911" cy="185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3"/>
              </a:lnSpc>
            </a:pPr>
            <a:r>
              <a:rPr lang="en-US" sz="2638" spc="-145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PYTHON ARITHMETICS OPERATORS ARE USED TO PERFORM BASIC MATHEMATICAL OPERATIONS LIKE ADDITION, SUBTRACTION, MULTIPLICA</a:t>
            </a:r>
            <a:r>
              <a:rPr lang="en-US" b="true" sz="2638" spc="-145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TION AND DIVISION.</a:t>
            </a:r>
          </a:p>
          <a:p>
            <a:pPr algn="ctr">
              <a:lnSpc>
                <a:spcPts val="3693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C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315343" y="9253537"/>
            <a:ext cx="10585649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8315343" y="1033462"/>
            <a:ext cx="10585649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251435" y="9507110"/>
            <a:ext cx="542093" cy="540520"/>
            <a:chOff x="0" y="0"/>
            <a:chExt cx="174424" cy="173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4424" cy="173917"/>
            </a:xfrm>
            <a:custGeom>
              <a:avLst/>
              <a:gdLst/>
              <a:ahLst/>
              <a:cxnLst/>
              <a:rect r="r" b="b" t="t" l="l"/>
              <a:pathLst>
                <a:path h="173917" w="174424">
                  <a:moveTo>
                    <a:pt x="86959" y="0"/>
                  </a:moveTo>
                  <a:lnTo>
                    <a:pt x="87465" y="0"/>
                  </a:lnTo>
                  <a:cubicBezTo>
                    <a:pt x="110528" y="0"/>
                    <a:pt x="132646" y="9162"/>
                    <a:pt x="148954" y="25470"/>
                  </a:cubicBezTo>
                  <a:cubicBezTo>
                    <a:pt x="165262" y="41778"/>
                    <a:pt x="174424" y="63896"/>
                    <a:pt x="174424" y="86959"/>
                  </a:cubicBezTo>
                  <a:lnTo>
                    <a:pt x="174424" y="86959"/>
                  </a:lnTo>
                  <a:cubicBezTo>
                    <a:pt x="174424" y="134985"/>
                    <a:pt x="135491" y="173917"/>
                    <a:pt x="87465" y="173917"/>
                  </a:cubicBezTo>
                  <a:lnTo>
                    <a:pt x="86959" y="173917"/>
                  </a:lnTo>
                  <a:cubicBezTo>
                    <a:pt x="38933" y="173917"/>
                    <a:pt x="0" y="134985"/>
                    <a:pt x="0" y="86959"/>
                  </a:cubicBezTo>
                  <a:lnTo>
                    <a:pt x="0" y="86959"/>
                  </a:lnTo>
                  <a:cubicBezTo>
                    <a:pt x="0" y="38933"/>
                    <a:pt x="38933" y="0"/>
                    <a:pt x="869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403E3E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4424" cy="2120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  <a:r>
                <a:rPr lang="en-US" sz="1900" spc="-104">
                  <a:solidFill>
                    <a:srgbClr val="403E3E"/>
                  </a:solidFill>
                  <a:latin typeface="Mukti"/>
                  <a:ea typeface="Mukti"/>
                  <a:cs typeface="Mukti"/>
                  <a:sym typeface="Mukti"/>
                </a:rPr>
                <a:t>2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793528" y="4526643"/>
            <a:ext cx="8461407" cy="3980501"/>
          </a:xfrm>
          <a:custGeom>
            <a:avLst/>
            <a:gdLst/>
            <a:ahLst/>
            <a:cxnLst/>
            <a:rect r="r" b="b" t="t" l="l"/>
            <a:pathLst>
              <a:path h="3980501" w="8461407">
                <a:moveTo>
                  <a:pt x="0" y="0"/>
                </a:moveTo>
                <a:lnTo>
                  <a:pt x="8461407" y="0"/>
                </a:lnTo>
                <a:lnTo>
                  <a:pt x="8461407" y="3980501"/>
                </a:lnTo>
                <a:lnTo>
                  <a:pt x="0" y="39805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130234" y="2773026"/>
            <a:ext cx="5221638" cy="6258661"/>
          </a:xfrm>
          <a:custGeom>
            <a:avLst/>
            <a:gdLst/>
            <a:ahLst/>
            <a:cxnLst/>
            <a:rect r="r" b="b" t="t" l="l"/>
            <a:pathLst>
              <a:path h="6258661" w="5221638">
                <a:moveTo>
                  <a:pt x="0" y="0"/>
                </a:moveTo>
                <a:lnTo>
                  <a:pt x="5221638" y="0"/>
                </a:lnTo>
                <a:lnTo>
                  <a:pt x="5221638" y="6258661"/>
                </a:lnTo>
                <a:lnTo>
                  <a:pt x="0" y="62586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09" t="-3857" r="-1809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837389" y="2033214"/>
            <a:ext cx="8957213" cy="957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72"/>
              </a:lnSpc>
            </a:pPr>
            <a:r>
              <a:rPr lang="en-US" sz="4700" spc="-103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COMPARISON OPERATORS</a:t>
            </a:r>
          </a:p>
          <a:p>
            <a:pPr algn="r">
              <a:lnSpc>
                <a:spcPts val="3572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793528" y="3269680"/>
            <a:ext cx="9662911" cy="92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3"/>
              </a:lnSpc>
            </a:pPr>
            <a:r>
              <a:rPr lang="en-US" sz="2638" spc="-145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 COMPARISON OPERATORS COMPARES VALUES. IT EITHER RETURNS TRUE OR FALSE ACCORDING TO THE C</a:t>
            </a:r>
            <a:r>
              <a:rPr lang="en-US" b="true" sz="2638" spc="-145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ONDITION.</a:t>
            </a:r>
          </a:p>
        </p:txBody>
      </p:sp>
      <p:sp>
        <p:nvSpPr>
          <p:cNvPr name="AutoShape 11" id="11"/>
          <p:cNvSpPr/>
          <p:nvPr/>
        </p:nvSpPr>
        <p:spPr>
          <a:xfrm>
            <a:off x="8467743" y="9405937"/>
            <a:ext cx="10585649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C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315343" y="9253537"/>
            <a:ext cx="10585649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8315343" y="1033462"/>
            <a:ext cx="10585649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251435" y="9507110"/>
            <a:ext cx="542093" cy="540520"/>
            <a:chOff x="0" y="0"/>
            <a:chExt cx="174424" cy="173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4424" cy="173917"/>
            </a:xfrm>
            <a:custGeom>
              <a:avLst/>
              <a:gdLst/>
              <a:ahLst/>
              <a:cxnLst/>
              <a:rect r="r" b="b" t="t" l="l"/>
              <a:pathLst>
                <a:path h="173917" w="174424">
                  <a:moveTo>
                    <a:pt x="86959" y="0"/>
                  </a:moveTo>
                  <a:lnTo>
                    <a:pt x="87465" y="0"/>
                  </a:lnTo>
                  <a:cubicBezTo>
                    <a:pt x="110528" y="0"/>
                    <a:pt x="132646" y="9162"/>
                    <a:pt x="148954" y="25470"/>
                  </a:cubicBezTo>
                  <a:cubicBezTo>
                    <a:pt x="165262" y="41778"/>
                    <a:pt x="174424" y="63896"/>
                    <a:pt x="174424" y="86959"/>
                  </a:cubicBezTo>
                  <a:lnTo>
                    <a:pt x="174424" y="86959"/>
                  </a:lnTo>
                  <a:cubicBezTo>
                    <a:pt x="174424" y="134985"/>
                    <a:pt x="135491" y="173917"/>
                    <a:pt x="87465" y="173917"/>
                  </a:cubicBezTo>
                  <a:lnTo>
                    <a:pt x="86959" y="173917"/>
                  </a:lnTo>
                  <a:cubicBezTo>
                    <a:pt x="38933" y="173917"/>
                    <a:pt x="0" y="134985"/>
                    <a:pt x="0" y="86959"/>
                  </a:cubicBezTo>
                  <a:lnTo>
                    <a:pt x="0" y="86959"/>
                  </a:lnTo>
                  <a:cubicBezTo>
                    <a:pt x="0" y="38933"/>
                    <a:pt x="38933" y="0"/>
                    <a:pt x="869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403E3E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4424" cy="2120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  <a:r>
                <a:rPr lang="en-US" sz="1900" spc="-104">
                  <a:solidFill>
                    <a:srgbClr val="403E3E"/>
                  </a:solidFill>
                  <a:latin typeface="Mukti"/>
                  <a:ea typeface="Mukti"/>
                  <a:cs typeface="Mukti"/>
                  <a:sym typeface="Mukti"/>
                </a:rPr>
                <a:t>2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869755" y="1845767"/>
            <a:ext cx="6566939" cy="4544802"/>
          </a:xfrm>
          <a:custGeom>
            <a:avLst/>
            <a:gdLst/>
            <a:ahLst/>
            <a:cxnLst/>
            <a:rect r="r" b="b" t="t" l="l"/>
            <a:pathLst>
              <a:path h="4544802" w="6566939">
                <a:moveTo>
                  <a:pt x="0" y="0"/>
                </a:moveTo>
                <a:lnTo>
                  <a:pt x="6566939" y="0"/>
                </a:lnTo>
                <a:lnTo>
                  <a:pt x="6566939" y="4544803"/>
                </a:lnTo>
                <a:lnTo>
                  <a:pt x="0" y="45448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159150" y="6808159"/>
            <a:ext cx="10312385" cy="2113841"/>
          </a:xfrm>
          <a:custGeom>
            <a:avLst/>
            <a:gdLst/>
            <a:ahLst/>
            <a:cxnLst/>
            <a:rect r="r" b="b" t="t" l="l"/>
            <a:pathLst>
              <a:path h="2113841" w="10312385">
                <a:moveTo>
                  <a:pt x="0" y="0"/>
                </a:moveTo>
                <a:lnTo>
                  <a:pt x="10312385" y="0"/>
                </a:lnTo>
                <a:lnTo>
                  <a:pt x="10312385" y="2113841"/>
                </a:lnTo>
                <a:lnTo>
                  <a:pt x="0" y="21138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255087" y="1635778"/>
            <a:ext cx="10053763" cy="1007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53"/>
              </a:lnSpc>
            </a:pPr>
            <a:r>
              <a:rPr lang="en-US" sz="4938" spc="-108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LOGICAL OPERATORS</a:t>
            </a:r>
          </a:p>
          <a:p>
            <a:pPr algn="r">
              <a:lnSpc>
                <a:spcPts val="3753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8141033" y="2226971"/>
            <a:ext cx="9662911" cy="4190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3"/>
              </a:lnSpc>
            </a:pPr>
            <a:r>
              <a:rPr lang="en-US" sz="2638" spc="-145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PERFORM LOGICAL AND, LOGICAL OR AND LOGICAL NOT OPERATIONS. IT IS USED TO COMBINE CONDITIONAL STATEMENTS.</a:t>
            </a:r>
          </a:p>
          <a:p>
            <a:pPr algn="l" marL="569600" indent="-284800" lvl="1">
              <a:lnSpc>
                <a:spcPts val="3693"/>
              </a:lnSpc>
              <a:buFont typeface="Arial"/>
              <a:buChar char="•"/>
            </a:pPr>
            <a:r>
              <a:rPr lang="en-US" sz="2638" spc="-145">
                <a:solidFill>
                  <a:srgbClr val="00BF63"/>
                </a:solidFill>
                <a:latin typeface="Mukti"/>
                <a:ea typeface="Mukti"/>
                <a:cs typeface="Mukti"/>
                <a:sym typeface="Mukti"/>
              </a:rPr>
              <a:t>THE PRECEDENCE OF LOGICAL OPERATORS IN PYTHON IS AS FOLLOWS:</a:t>
            </a:r>
          </a:p>
          <a:p>
            <a:pPr algn="l" marL="569600" indent="-284800" lvl="1">
              <a:lnSpc>
                <a:spcPts val="3693"/>
              </a:lnSpc>
              <a:buFont typeface="Arial"/>
              <a:buChar char="•"/>
            </a:pPr>
            <a:r>
              <a:rPr lang="en-US" sz="2638" spc="-145">
                <a:solidFill>
                  <a:srgbClr val="5E17EB"/>
                </a:solidFill>
                <a:latin typeface="Mukti"/>
                <a:ea typeface="Mukti"/>
                <a:cs typeface="Mukti"/>
                <a:sym typeface="Mukti"/>
              </a:rPr>
              <a:t>LOGICAL AND</a:t>
            </a:r>
          </a:p>
          <a:p>
            <a:pPr algn="l" marL="569600" indent="-284800" lvl="1">
              <a:lnSpc>
                <a:spcPts val="3693"/>
              </a:lnSpc>
              <a:buFont typeface="Arial"/>
              <a:buChar char="•"/>
            </a:pPr>
            <a:r>
              <a:rPr lang="en-US" b="true" sz="2638" spc="-145">
                <a:solidFill>
                  <a:srgbClr val="5E17EB"/>
                </a:solidFill>
                <a:latin typeface="Mukti"/>
                <a:ea typeface="Mukti"/>
                <a:cs typeface="Mukti"/>
                <a:sym typeface="Mukti"/>
              </a:rPr>
              <a:t>LOGICAL OR</a:t>
            </a:r>
          </a:p>
          <a:p>
            <a:pPr algn="l" marL="569600" indent="-284800" lvl="1">
              <a:lnSpc>
                <a:spcPts val="3693"/>
              </a:lnSpc>
              <a:buFont typeface="Arial"/>
              <a:buChar char="•"/>
            </a:pPr>
            <a:r>
              <a:rPr lang="en-US" b="true" sz="2638" spc="-145">
                <a:solidFill>
                  <a:srgbClr val="5E17EB"/>
                </a:solidFill>
                <a:latin typeface="Mukti"/>
                <a:ea typeface="Mukti"/>
                <a:cs typeface="Mukti"/>
                <a:sym typeface="Mukti"/>
              </a:rPr>
              <a:t>LOGICAL NOT</a:t>
            </a:r>
          </a:p>
          <a:p>
            <a:pPr algn="l">
              <a:lnSpc>
                <a:spcPts val="3693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C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315343" y="9253537"/>
            <a:ext cx="10585649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8315343" y="1033462"/>
            <a:ext cx="10585649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251435" y="9507110"/>
            <a:ext cx="542093" cy="540520"/>
            <a:chOff x="0" y="0"/>
            <a:chExt cx="174424" cy="173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4424" cy="173917"/>
            </a:xfrm>
            <a:custGeom>
              <a:avLst/>
              <a:gdLst/>
              <a:ahLst/>
              <a:cxnLst/>
              <a:rect r="r" b="b" t="t" l="l"/>
              <a:pathLst>
                <a:path h="173917" w="174424">
                  <a:moveTo>
                    <a:pt x="86959" y="0"/>
                  </a:moveTo>
                  <a:lnTo>
                    <a:pt x="87465" y="0"/>
                  </a:lnTo>
                  <a:cubicBezTo>
                    <a:pt x="110528" y="0"/>
                    <a:pt x="132646" y="9162"/>
                    <a:pt x="148954" y="25470"/>
                  </a:cubicBezTo>
                  <a:cubicBezTo>
                    <a:pt x="165262" y="41778"/>
                    <a:pt x="174424" y="63896"/>
                    <a:pt x="174424" y="86959"/>
                  </a:cubicBezTo>
                  <a:lnTo>
                    <a:pt x="174424" y="86959"/>
                  </a:lnTo>
                  <a:cubicBezTo>
                    <a:pt x="174424" y="134985"/>
                    <a:pt x="135491" y="173917"/>
                    <a:pt x="87465" y="173917"/>
                  </a:cubicBezTo>
                  <a:lnTo>
                    <a:pt x="86959" y="173917"/>
                  </a:lnTo>
                  <a:cubicBezTo>
                    <a:pt x="38933" y="173917"/>
                    <a:pt x="0" y="134985"/>
                    <a:pt x="0" y="86959"/>
                  </a:cubicBezTo>
                  <a:lnTo>
                    <a:pt x="0" y="86959"/>
                  </a:lnTo>
                  <a:cubicBezTo>
                    <a:pt x="0" y="38933"/>
                    <a:pt x="38933" y="0"/>
                    <a:pt x="869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403E3E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4424" cy="2120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  <a:r>
                <a:rPr lang="en-US" sz="1900" spc="-104">
                  <a:solidFill>
                    <a:srgbClr val="403E3E"/>
                  </a:solidFill>
                  <a:latin typeface="Mukti"/>
                  <a:ea typeface="Mukti"/>
                  <a:cs typeface="Mukti"/>
                  <a:sym typeface="Mukti"/>
                </a:rPr>
                <a:t>2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8467743" y="9405937"/>
            <a:ext cx="10585649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985251" y="5347146"/>
            <a:ext cx="7158749" cy="3251026"/>
          </a:xfrm>
          <a:custGeom>
            <a:avLst/>
            <a:gdLst/>
            <a:ahLst/>
            <a:cxnLst/>
            <a:rect r="r" b="b" t="t" l="l"/>
            <a:pathLst>
              <a:path h="3251026" w="7158749">
                <a:moveTo>
                  <a:pt x="0" y="0"/>
                </a:moveTo>
                <a:lnTo>
                  <a:pt x="7158749" y="0"/>
                </a:lnTo>
                <a:lnTo>
                  <a:pt x="7158749" y="3251026"/>
                </a:lnTo>
                <a:lnTo>
                  <a:pt x="0" y="32510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047" r="0" b="-2047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860923" y="1444127"/>
            <a:ext cx="4047753" cy="7365183"/>
          </a:xfrm>
          <a:custGeom>
            <a:avLst/>
            <a:gdLst/>
            <a:ahLst/>
            <a:cxnLst/>
            <a:rect r="r" b="b" t="t" l="l"/>
            <a:pathLst>
              <a:path h="7365183" w="4047753">
                <a:moveTo>
                  <a:pt x="0" y="0"/>
                </a:moveTo>
                <a:lnTo>
                  <a:pt x="4047753" y="0"/>
                </a:lnTo>
                <a:lnTo>
                  <a:pt x="4047753" y="7365183"/>
                </a:lnTo>
                <a:lnTo>
                  <a:pt x="0" y="73651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63" t="-2792" r="-863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837389" y="2033214"/>
            <a:ext cx="8957213" cy="957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72"/>
              </a:lnSpc>
            </a:pPr>
            <a:r>
              <a:rPr lang="en-US" sz="4700" spc="-103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ASSIGNMENT OPERATORS</a:t>
            </a:r>
          </a:p>
          <a:p>
            <a:pPr algn="r">
              <a:lnSpc>
                <a:spcPts val="3572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793528" y="3269680"/>
            <a:ext cx="9662911" cy="185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3"/>
              </a:lnSpc>
            </a:pPr>
            <a:r>
              <a:rPr lang="en-US" sz="2638" spc="-145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 ASSIGNMENT OPERATORS </a:t>
            </a:r>
            <a:r>
              <a:rPr lang="en-US" b="true" sz="2638" spc="-145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ARE USED TO ASSIGN VALUES TO THE VARIABLES. THIS OPERATOR IS USED TO ASSIGN THE VALUE OF THE RIGHT SIDE OF THE EXPRESSION TO THE LEFT SIDE OPERAND.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C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315343" y="9253537"/>
            <a:ext cx="10585649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8315343" y="1033462"/>
            <a:ext cx="10585649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251435" y="9507110"/>
            <a:ext cx="542093" cy="540520"/>
            <a:chOff x="0" y="0"/>
            <a:chExt cx="174424" cy="173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4424" cy="173917"/>
            </a:xfrm>
            <a:custGeom>
              <a:avLst/>
              <a:gdLst/>
              <a:ahLst/>
              <a:cxnLst/>
              <a:rect r="r" b="b" t="t" l="l"/>
              <a:pathLst>
                <a:path h="173917" w="174424">
                  <a:moveTo>
                    <a:pt x="86959" y="0"/>
                  </a:moveTo>
                  <a:lnTo>
                    <a:pt x="87465" y="0"/>
                  </a:lnTo>
                  <a:cubicBezTo>
                    <a:pt x="110528" y="0"/>
                    <a:pt x="132646" y="9162"/>
                    <a:pt x="148954" y="25470"/>
                  </a:cubicBezTo>
                  <a:cubicBezTo>
                    <a:pt x="165262" y="41778"/>
                    <a:pt x="174424" y="63896"/>
                    <a:pt x="174424" y="86959"/>
                  </a:cubicBezTo>
                  <a:lnTo>
                    <a:pt x="174424" y="86959"/>
                  </a:lnTo>
                  <a:cubicBezTo>
                    <a:pt x="174424" y="134985"/>
                    <a:pt x="135491" y="173917"/>
                    <a:pt x="87465" y="173917"/>
                  </a:cubicBezTo>
                  <a:lnTo>
                    <a:pt x="86959" y="173917"/>
                  </a:lnTo>
                  <a:cubicBezTo>
                    <a:pt x="38933" y="173917"/>
                    <a:pt x="0" y="134985"/>
                    <a:pt x="0" y="86959"/>
                  </a:cubicBezTo>
                  <a:lnTo>
                    <a:pt x="0" y="86959"/>
                  </a:lnTo>
                  <a:cubicBezTo>
                    <a:pt x="0" y="38933"/>
                    <a:pt x="38933" y="0"/>
                    <a:pt x="869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403E3E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4424" cy="2120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  <a:r>
                <a:rPr lang="en-US" sz="1900" spc="-104">
                  <a:solidFill>
                    <a:srgbClr val="403E3E"/>
                  </a:solidFill>
                  <a:latin typeface="Mukti"/>
                  <a:ea typeface="Mukti"/>
                  <a:cs typeface="Mukti"/>
                  <a:sym typeface="Mukti"/>
                </a:rPr>
                <a:t>2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8467743" y="9405937"/>
            <a:ext cx="10585649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0183183" y="2625461"/>
            <a:ext cx="6194957" cy="6326840"/>
          </a:xfrm>
          <a:custGeom>
            <a:avLst/>
            <a:gdLst/>
            <a:ahLst/>
            <a:cxnLst/>
            <a:rect r="r" b="b" t="t" l="l"/>
            <a:pathLst>
              <a:path h="6326840" w="6194957">
                <a:moveTo>
                  <a:pt x="0" y="0"/>
                </a:moveTo>
                <a:lnTo>
                  <a:pt x="6194958" y="0"/>
                </a:lnTo>
                <a:lnTo>
                  <a:pt x="6194958" y="6326840"/>
                </a:lnTo>
                <a:lnTo>
                  <a:pt x="0" y="63268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" t="-8918" r="-2031" b="-6599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837389" y="2033214"/>
            <a:ext cx="10987785" cy="510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72"/>
              </a:lnSpc>
            </a:pPr>
            <a:r>
              <a:rPr lang="en-US" sz="4700" spc="-103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IDE</a:t>
            </a:r>
            <a:r>
              <a:rPr lang="en-US" sz="4700" spc="-103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ntity and membership</a:t>
            </a:r>
            <a:r>
              <a:rPr lang="en-US" sz="4700" spc="-103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 OPERATORS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3528" y="3967250"/>
            <a:ext cx="7521814" cy="360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0"/>
              </a:lnSpc>
            </a:pPr>
            <a:r>
              <a:rPr lang="en-US" sz="2064" spc="-113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IN PYTHON, MEMBERSHIP AND IDENTITY OPERATORS HELP US CHECK RELATIONSHIPS BETWEEN VALUES AND OBJECTS.</a:t>
            </a:r>
          </a:p>
          <a:p>
            <a:pPr algn="l">
              <a:lnSpc>
                <a:spcPts val="2890"/>
              </a:lnSpc>
            </a:pPr>
          </a:p>
          <a:p>
            <a:pPr algn="l">
              <a:lnSpc>
                <a:spcPts val="2890"/>
              </a:lnSpc>
            </a:pPr>
          </a:p>
          <a:p>
            <a:pPr algn="l" marL="445736" indent="-222868" lvl="1">
              <a:lnSpc>
                <a:spcPts val="2890"/>
              </a:lnSpc>
              <a:buFont typeface="Arial"/>
              <a:buChar char="•"/>
            </a:pPr>
            <a:r>
              <a:rPr lang="en-US" sz="2064" spc="-113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ID</a:t>
            </a:r>
            <a:r>
              <a:rPr lang="en-US" sz="2064" spc="-113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ENTITY OPERATORS (IS, IS NOT) → CHECK IF TWO VARIABLES REFER TO THE SAME </a:t>
            </a:r>
            <a:r>
              <a:rPr lang="en-US" b="true" sz="2064" spc="-113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OBJECT IN MEMORY.</a:t>
            </a:r>
          </a:p>
          <a:p>
            <a:pPr algn="l">
              <a:lnSpc>
                <a:spcPts val="2890"/>
              </a:lnSpc>
            </a:pPr>
          </a:p>
          <a:p>
            <a:pPr algn="l" marL="445736" indent="-222868" lvl="1">
              <a:lnSpc>
                <a:spcPts val="2890"/>
              </a:lnSpc>
              <a:buFont typeface="Arial"/>
              <a:buChar char="•"/>
            </a:pPr>
            <a:r>
              <a:rPr lang="en-US" b="true" sz="2064" spc="-113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MEMBERSHIP OPERATORS (IN, NOT IN) → CHECK IF A VALUE EXISTS IN A LIST, TUPLE, SET, OR STRING.</a:t>
            </a:r>
          </a:p>
          <a:p>
            <a:pPr algn="l">
              <a:lnSpc>
                <a:spcPts val="289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C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554943" y="2265952"/>
            <a:ext cx="14607540" cy="575509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DAG_tXPgjq0</dc:identifier>
  <dcterms:modified xsi:type="dcterms:W3CDTF">2011-08-01T06:04:30Z</dcterms:modified>
  <cp:revision>1</cp:revision>
  <dc:title>Beige Minimalist Ad Campaign Creative Brief Presentation</dc:title>
</cp:coreProperties>
</file>